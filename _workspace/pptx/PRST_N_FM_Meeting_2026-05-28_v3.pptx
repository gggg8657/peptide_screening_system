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743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972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2676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KAERI-AIRL-MOM-2026-004 (예정)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11155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Action Items 9건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02920" y="242316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수행 결과 및 의사결정 요청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3035808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2676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4월 회의 → 5월 28일 회의 narrative v3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5349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4160520"/>
            <a:ext cx="73152" cy="14173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42702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" y="4599432"/>
            <a:ext cx="5029200" cy="886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회의일 2026-05-28 (목)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Deck 갱신일 2026-05-27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작성: 김동주, KAERI AI-RI Lab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63640" y="4160520"/>
            <a:ext cx="5349240" cy="1417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4370832"/>
            <a:ext cx="4892040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4월 신규 8건 중 6건 충족, 2건 부분 충족 — Layer 2/3 절대값은 미신뢰. wet-lab 병행 필수.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662940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KAERI-AIRL-MOM-2026-004 (예정) · 2026-05-28 narrative v3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92840" y="66294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 / 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프로젝트 현재 위치 + 7단계 선별 체계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SST-14 기반 SSTR2 표적 후보를 Gate-2 실험으로 넘기는 계산 단계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074920" cy="43891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73152" cy="43891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43560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현재 위치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1764792"/>
            <a:ext cx="4754880" cy="3858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SST-14 기반 SSTR2 표적 방사성의약품 후보를 계산 단계에서 선별하고, ¹⁷⁷Lu 표지와 Gate-2 실험으로 넘길 수 있는 3~4개 후보를 도출하는 것이 현재 파이프라인의 목적이다.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5월 회의의 핵심은 "어디까지 계산으로 닫혔는가"와 "어디부터 실측 또는 외부 도구가 필요한가"를 구분하는 것이다.</a:t>
            </a:r>
            <a:endParaRPr lang="en-US" sz="122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325880"/>
          <a:ext cx="585216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600200"/>
                <a:gridCol w="37490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단계</a:t>
                      </a:r>
                      <a:endParaRPr lang="en-US" sz="93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선별 축</a:t>
                      </a:r>
                      <a:endParaRPr lang="en-US" sz="93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현재 역할</a:t>
                      </a:r>
                      <a:endParaRPr lang="en-US" sz="93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</a:t>
                      </a:r>
                      <a:endParaRPr lang="en-US" sz="93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Specificity</a:t>
                      </a:r>
                      <a:endParaRPr lang="en-US" sz="93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Rosetta/FlexPepDock 및 selectivity 기반 1차 선별</a:t>
                      </a:r>
                      <a:endParaRPr lang="en-US" sz="93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2</a:t>
                      </a:r>
                      <a:endParaRPr lang="en-US" sz="93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Serum Stability</a:t>
                      </a:r>
                      <a:endParaRPr lang="en-US" sz="93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ProtParam 및 대체 도구, 이후 MD 기반 stability 검토</a:t>
                      </a:r>
                      <a:endParaRPr lang="en-US" sz="93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</a:t>
                      </a:r>
                      <a:endParaRPr lang="en-US" sz="93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Toxicity</a:t>
                      </a:r>
                      <a:endParaRPr lang="en-US" sz="93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pepADMET 또는 대체 ADMET 모델</a:t>
                      </a:r>
                      <a:endParaRPr lang="en-US" sz="93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4</a:t>
                      </a:r>
                      <a:endParaRPr lang="en-US" sz="93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Lead</a:t>
                      </a:r>
                      <a:endParaRPr lang="en-US" sz="93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WSS와 Pareto front 기반 최종 후보 도출</a:t>
                      </a:r>
                      <a:endParaRPr lang="en-US" sz="93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5</a:t>
                      </a:r>
                      <a:endParaRPr lang="en-US" sz="93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AA Modification</a:t>
                      </a:r>
                      <a:endParaRPr lang="en-US" sz="93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radiolysis 민감 잔기 및 SS bond 안정성 중심 변형</a:t>
                      </a:r>
                      <a:endParaRPr lang="en-US" sz="93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6</a:t>
                      </a:r>
                      <a:endParaRPr lang="en-US" sz="93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RI-MD</a:t>
                      </a:r>
                      <a:endParaRPr lang="en-US" sz="93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MM-GBSA, FEP/TI, 표지 후 구조 안정성</a:t>
                      </a:r>
                      <a:endParaRPr lang="en-US" sz="93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7</a:t>
                      </a:r>
                      <a:endParaRPr lang="en-US" sz="93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기타</a:t>
                      </a:r>
                      <a:endParaRPr lang="en-US" sz="93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제형 안정성, RCY/RCP, 실험 패키지 조건</a:t>
                      </a:r>
                      <a:endParaRPr lang="en-US" sz="93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94360" y="589788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"7단계 다단계 선별 체계(Specificity → Serum Stability → Toxicity → Lead 확정 → AA Modification → RI-MD simulation → 기타 예측)" — 회의록 §1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" y="662940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KAERI-AIRL-MOM-2026-004 (예정) · 2026-05-28 narrative v3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92840" y="66294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 / 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A-01 — SSTR1/3/4/5 위치 지정 도킹 좌표 확정 및 재도킹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4월 회의 원문 요구 → 5월 27일 narrative v3 수행 결과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5486400" cy="46177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73152" cy="46177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40817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1737360"/>
            <a:ext cx="5166360" cy="4087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"SSTR1/3/4/5 위치 지정 도킹 좌표 확정 및 재도킹 수행 (SSTR3 에러 해결 포함)."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"블라인드 도킹은 전체 수용체 표면을 탐색하므로 연산 시간이 과도하다."</a:t>
            </a:r>
            <a:endParaRPr lang="en-US" sz="990" dirty="0"/>
          </a:p>
          <a:p>
            <a:pPr indent="0" marL="0">
              <a:buNone/>
            </a:pP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binding_pocket_SSTR2.json 생성, SSTR1/3/4/5 정렬 RMSD ≤4 Å, selectivity_runner 인터페이스 반영.</a:t>
            </a:r>
            <a:endParaRPr lang="en-US" sz="990" dirty="0"/>
          </a:p>
        </p:txBody>
      </p:sp>
      <p:sp>
        <p:nvSpPr>
          <p:cNvPr id="9" name="Shape 7"/>
          <p:cNvSpPr/>
          <p:nvPr/>
        </p:nvSpPr>
        <p:spPr>
          <a:xfrm>
            <a:off x="6217920" y="1298448"/>
            <a:ext cx="5486400" cy="46177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298448"/>
            <a:ext cx="73152" cy="4617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140817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수행 결과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82512" y="1737360"/>
            <a:ext cx="5166360" cy="4087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내용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7XNA 기준 포켓 중심 (-5.595, -28.626, 52.210), 반경 13 Å, 박스 26.1 Å. PyMOL cealign 정렬 RMSD: SSTR1 3.125 Å, SSTR3 3.086 Å, SSTR4 3.019 Å, SSTR5 2.770 Å.</a:t>
            </a:r>
            <a:endParaRPr lang="en-US" sz="990" dirty="0"/>
          </a:p>
          <a:p>
            <a:pPr indent="0" marL="0">
              <a:buNone/>
            </a:pP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산출물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 #61 main merge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binding_pocket_SSTR2.json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SSTR1/3/4/5 aligned PDB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selectivity_runner.py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관련 테스트 38건 통과</a:t>
            </a:r>
            <a:endParaRPr lang="en-US" sz="990" dirty="0"/>
          </a:p>
        </p:txBody>
      </p:sp>
      <p:sp>
        <p:nvSpPr>
          <p:cNvPr id="13" name="Shape 11"/>
          <p:cNvSpPr/>
          <p:nvPr/>
        </p:nvSpPr>
        <p:spPr>
          <a:xfrm>
            <a:off x="457200" y="6144768"/>
            <a:ext cx="11247120" cy="38404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6208776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✓ 충족 · 갭: TM-align 대신 cealign 사용. KPI RMSD는 충족.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662940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KAERI-AIRL-MOM-2026-004 (예정) · 2026-05-28 narrative v3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92840" y="66294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 / 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A-02 — 혈청 반감기 예측 도구 비교 조사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4월 회의 원문 요구 → 5월 27일 narrative v3 수행 결과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5486400" cy="46177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73152" cy="46177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40817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1737360"/>
            <a:ext cx="5166360" cy="4087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"혈청 반감기 예측 도구 비교 조사 (벤치마크 세트 기반 정확도 평가)."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"[서호성 의견] 보다 정밀한 Serum Stability 혹은 인체 반감기 측정 프로그램을 찾아 사용할 필요가 있으며, 특히 D-Phe 등 변형된 아미노산을 분석할 수 있으면 더욱 바람직하다."</a:t>
            </a:r>
            <a:endParaRPr lang="en-US" sz="990" dirty="0"/>
          </a:p>
          <a:p>
            <a:pPr indent="0" marL="0">
              <a:buNone/>
            </a:pP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5종 이상 도구 비교, 벤치마크 정확도 표, R²/MAE 정량 비교, 도입 우선순위 권고.</a:t>
            </a:r>
            <a:endParaRPr lang="en-US" sz="990" dirty="0"/>
          </a:p>
        </p:txBody>
      </p:sp>
      <p:sp>
        <p:nvSpPr>
          <p:cNvPr id="9" name="Shape 7"/>
          <p:cNvSpPr/>
          <p:nvPr/>
        </p:nvSpPr>
        <p:spPr>
          <a:xfrm>
            <a:off x="6217920" y="1298448"/>
            <a:ext cx="5486400" cy="46177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298448"/>
            <a:ext cx="73152" cy="4617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140817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수행 결과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82512" y="1737360"/>
            <a:ext cx="5166360" cy="4087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내용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ProtParam, HLP, PlifePred, PeptideRanker, PeptideStability, pepMSND, CAMSOL 등 7종 비교. Octreotide 테스트에서 D-AA 및 terminal modification을 반영하지 못하면 half-life가 4.83배 과대 추정될 수 있음을 확인.</a:t>
            </a:r>
            <a:endParaRPr lang="en-US" sz="990" dirty="0"/>
          </a:p>
          <a:p>
            <a:pPr indent="0" marL="0">
              <a:buNone/>
            </a:pP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산출물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A-02 도구 비교 문서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predict_halflife_pepmsnd.py wrapper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ENDPOINT_CONFIDENCE 혈청 반감기 항목 7개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D-AA 미지원 경고</a:t>
            </a:r>
            <a:endParaRPr lang="en-US" sz="990" dirty="0"/>
          </a:p>
        </p:txBody>
      </p:sp>
      <p:sp>
        <p:nvSpPr>
          <p:cNvPr id="13" name="Shape 11"/>
          <p:cNvSpPr/>
          <p:nvPr/>
        </p:nvSpPr>
        <p:spPr>
          <a:xfrm>
            <a:off x="457200" y="6144768"/>
            <a:ext cx="11247120" cy="3840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6208776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△ 부분 충족 · 갭: D-AA half-life 예측 도구 확보 미충족. wet-lab serum stability 병행 필요.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662940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KAERI-AIRL-MOM-2026-004 (예정) · 2026-05-28 narrative v3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92840" y="66294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 / 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A-03 — Fab-ADMET 정확도 검증 및 자체 학습 가능성 평가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4월 회의 원문 요구 → 5월 27일 narrative v3 수행 결과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5486400" cy="46177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73152" cy="46177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40817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1737360"/>
            <a:ext cx="5166360" cy="4087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"Fab-ADMET 정확도 검증 및 자체 학습 가능성 평가."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"(추가적인 학습에 대한 김동주 선생님의 의견!!)"</a:t>
            </a:r>
            <a:endParaRPr lang="en-US" sz="990" dirty="0"/>
          </a:p>
          <a:p>
            <a:pPr indent="0" marL="0">
              <a:buNone/>
            </a:pP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원 논문 endpoint별 정확도, SSTR2 환형 적용 한계, 자체 fine-tuning 가능성, 신뢰 endpoint 식별.</a:t>
            </a:r>
            <a:endParaRPr lang="en-US" sz="990" dirty="0"/>
          </a:p>
        </p:txBody>
      </p:sp>
      <p:sp>
        <p:nvSpPr>
          <p:cNvPr id="9" name="Shape 7"/>
          <p:cNvSpPr/>
          <p:nvPr/>
        </p:nvSpPr>
        <p:spPr>
          <a:xfrm>
            <a:off x="6217920" y="1298448"/>
            <a:ext cx="5486400" cy="46177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298448"/>
            <a:ext cx="73152" cy="4617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140817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수행 결과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82512" y="1737360"/>
            <a:ext cx="5166360" cy="4087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내용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"Fab-ADMET" 표기는 pepADMET으로 정정. Tan et al. 2026 JCIM peptide ADMET 플랫폼. toxicity endpoint는 AUC 0.949로 보고. D-AA·비천연 AA 공식 지원 미명시, DOTA 결합 후보는 적용 불가 또는 OOD 가능성 큼. REST API 자동 호출은 HTTP 403.</a:t>
            </a:r>
            <a:endParaRPr lang="en-US" sz="990" dirty="0"/>
          </a:p>
          <a:p>
            <a:pPr indent="0" marL="0">
              <a:buNone/>
            </a:pP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산출물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A-03 조사 보고서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pepADMET 명칭 정정 기록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pepADMET 저자 문의 이메일 초안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ADMET 도구 신뢰도 등급 및 H-06 경고</a:t>
            </a:r>
            <a:endParaRPr lang="en-US" sz="990" dirty="0"/>
          </a:p>
        </p:txBody>
      </p:sp>
      <p:sp>
        <p:nvSpPr>
          <p:cNvPr id="13" name="Shape 11"/>
          <p:cNvSpPr/>
          <p:nvPr/>
        </p:nvSpPr>
        <p:spPr>
          <a:xfrm>
            <a:off x="457200" y="6144768"/>
            <a:ext cx="11247120" cy="3840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6208776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△ 부분 충족 · 갭: 명칭 정정과 적용 가능성 평가는 충족. PRST 후보 ADMET 의사결정 모델은 미확보.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662940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KAERI-AIRL-MOM-2026-004 (예정) · 2026-05-28 narrative v3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92840" y="66294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 / 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A-04 — Top-K 후보 선정 복합 스코어링 체계 설계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4월 회의 원문 요구 → 5월 27일 narrative v3 수행 결과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5486400" cy="46177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73152" cy="46177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40817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1737360"/>
            <a:ext cx="5166360" cy="4087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"Top-K 후보 선정 복합 스코어링 체계 설계 (ΔG + 반감기 + 셀렉티비티 + ADMET 통합)."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"Hard cutoff 통과 후보에 대해 가중 합산 스코어(weighted sum) 또는 Pareto front 방식으로 순위 결정."</a:t>
            </a:r>
            <a:endParaRPr lang="en-US" sz="990" dirty="0"/>
          </a:p>
          <a:p>
            <a:pPr indent="0" marL="0">
              <a:buNone/>
            </a:pP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composite_scorer.py, WSS + Pareto front, Tier S/A/B/FAIL, A-09 입력, pharmacology_guards 통합.</a:t>
            </a:r>
            <a:endParaRPr lang="en-US" sz="990" dirty="0"/>
          </a:p>
        </p:txBody>
      </p:sp>
      <p:sp>
        <p:nvSpPr>
          <p:cNvPr id="9" name="Shape 7"/>
          <p:cNvSpPr/>
          <p:nvPr/>
        </p:nvSpPr>
        <p:spPr>
          <a:xfrm>
            <a:off x="6217920" y="1298448"/>
            <a:ext cx="5486400" cy="46177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298448"/>
            <a:ext cx="73152" cy="4617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140817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수행 결과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82512" y="1737360"/>
            <a:ext cx="5166360" cy="4087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내용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Hard Cutoff 5개 정의: ΔG, Selectivity ≥100×, radiolysis-sensitive residue ≤3개, ADMET toxicity ≤0.3, Instability Index &lt;40. WSS 가중치: ΔG 0.35, selectivity 0.25, half-life 0.20, ADMET 0.10, radiolysis 0.10.</a:t>
            </a:r>
            <a:endParaRPr lang="en-US" sz="990" dirty="0"/>
          </a:p>
          <a:p>
            <a:pPr indent="0" marL="0">
              <a:buNone/>
            </a:pP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산출물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pipeline_local/scoring/composite_scorer.py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pipeline_local/scoring/radiolysis_scorer.py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 #62 main merge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테스트 73건 통과</a:t>
            </a:r>
            <a:endParaRPr lang="en-US" sz="990" dirty="0"/>
          </a:p>
        </p:txBody>
      </p:sp>
      <p:sp>
        <p:nvSpPr>
          <p:cNvPr id="13" name="Shape 11"/>
          <p:cNvSpPr/>
          <p:nvPr/>
        </p:nvSpPr>
        <p:spPr>
          <a:xfrm>
            <a:off x="457200" y="6144768"/>
            <a:ext cx="11247120" cy="38404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6208776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✓ 충족 · 갭: 실제 Tier 체계는 S/A/B/FAIL. commit 제목의 C와 다름.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662940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KAERI-AIRL-MOM-2026-004 (예정) · 2026-05-28 narrative v3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92840" y="66294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6 / 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A-05 — SST14 reference ΔG 기준선 확립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4월 회의 원문 요구 → 5월 27일 narrative v3 수행 결과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5486400" cy="46177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73152" cy="46177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40817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1737360"/>
            <a:ext cx="5166360" cy="4087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"SST14 레퍼런스 ΔG 기준선 확립 및 가변 임계값 적용 (n회 반복 Mean 값 기준)."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"[서호성 의견] Docking simulation을 n회 반복 수행하여 Mean 값을 기준으로 하는 것이 좋다."</a:t>
            </a:r>
            <a:endParaRPr lang="en-US" sz="990" dirty="0"/>
          </a:p>
          <a:p>
            <a:pPr indent="0" marL="0">
              <a:buNone/>
            </a:pP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n≥10 도킹, mean/std/95% CI, KPI σ&lt;5, reference JSON, pharmacology_guards 등록.</a:t>
            </a:r>
            <a:endParaRPr lang="en-US" sz="990" dirty="0"/>
          </a:p>
        </p:txBody>
      </p:sp>
      <p:sp>
        <p:nvSpPr>
          <p:cNvPr id="9" name="Shape 7"/>
          <p:cNvSpPr/>
          <p:nvPr/>
        </p:nvSpPr>
        <p:spPr>
          <a:xfrm>
            <a:off x="6217920" y="1298448"/>
            <a:ext cx="5486400" cy="46177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298448"/>
            <a:ext cx="73152" cy="4617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140817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수행 결과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82512" y="1737360"/>
            <a:ext cx="5166360" cy="4087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내용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SST-14 원형을 SSTR2에 동일 프로토콜로 반복 도킹. FlexPepDock 평균 ΔG 553.857 REU, σ=4.024 REU. Boltz-2 비교 ΔG -95.024 REU. 단위와 스케일이 달라 직접 비교하지 않음.</a:t>
            </a:r>
            <a:endParaRPr lang="en-US" sz="990" dirty="0"/>
          </a:p>
          <a:p>
            <a:pPr indent="0" marL="0">
              <a:buNone/>
            </a:pP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산출물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main commit 8e7e1cc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pharmacology_guards.py::LITERATURE_VALUES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tool-specific reference ΔG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gate_thresholds.yaml rosetta_ddg_max=498.4713</a:t>
            </a:r>
            <a:endParaRPr lang="en-US" sz="990" dirty="0"/>
          </a:p>
        </p:txBody>
      </p:sp>
      <p:sp>
        <p:nvSpPr>
          <p:cNvPr id="13" name="Shape 11"/>
          <p:cNvSpPr/>
          <p:nvPr/>
        </p:nvSpPr>
        <p:spPr>
          <a:xfrm>
            <a:off x="457200" y="6144768"/>
            <a:ext cx="11247120" cy="38404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6208776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✓ 충족 · 갭: SST-14:SSTR2 복합체 cryo-EM ground truth 부재. absolute pose validation 한계.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662940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KAERI-AIRL-MOM-2026-004 (예정) · 2026-05-28 narrative v3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92840" y="66294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7 / 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A-06 — 디퓨전 모델 기반 도킹 가속화 PoC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4월 회의 원문 요구 → 5월 27일 narrative v3 수행 결과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5486400" cy="46177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73152" cy="46177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40817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1737360"/>
            <a:ext cx="5166360" cy="4087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"디퓨전 모델 기반 도킹 가속화 PoC 수행 (정확도 vs Rosetta 비교)."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"RMSD 2.0Å 이내 재현율이 80% 이상이면 파이프라인 1차 필터로 도입을 검토한다."</a:t>
            </a:r>
            <a:endParaRPr lang="en-US" sz="990" dirty="0"/>
          </a:p>
          <a:p>
            <a:pPr indent="0" marL="0">
              <a:buNone/>
            </a:pP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Diffusion 모델 적용, PyRosetta/Boltz 비교, 시간/정확도/SS bond 지원, 도입 권고.</a:t>
            </a:r>
            <a:endParaRPr lang="en-US" sz="990" dirty="0"/>
          </a:p>
        </p:txBody>
      </p:sp>
      <p:sp>
        <p:nvSpPr>
          <p:cNvPr id="9" name="Shape 7"/>
          <p:cNvSpPr/>
          <p:nvPr/>
        </p:nvSpPr>
        <p:spPr>
          <a:xfrm>
            <a:off x="6217920" y="1298448"/>
            <a:ext cx="5486400" cy="46177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298448"/>
            <a:ext cx="73152" cy="4617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140817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수행 결과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82512" y="1737360"/>
            <a:ext cx="5166360" cy="4087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내용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DiffPepDock 검토. SSTR2-SST14 실험 ground truth 부재로 내부 reference pose와 비교. SST-14 및 PRST 후보의 Cys3-Cys14 SS bond 제약을 안정적으로 유지하지 못함. 회의 KPI인 RMSD 2.0 Å 이내 재현율 80% 판단 기준 미충족.</a:t>
            </a:r>
            <a:endParaRPr lang="en-US" sz="990" dirty="0"/>
          </a:p>
          <a:p>
            <a:pPr indent="0" marL="0">
              <a:buNone/>
            </a:pP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산출물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DiffPepDock 평가 보고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HEURISTIC_FUNCTION_DISCLAIMERS NOT_RECOMMENDED 사유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A-07 GPU VRAM 120 GB 이상 요구와 병목 연결</a:t>
            </a:r>
            <a:endParaRPr lang="en-US" sz="990" dirty="0"/>
          </a:p>
        </p:txBody>
      </p:sp>
      <p:sp>
        <p:nvSpPr>
          <p:cNvPr id="13" name="Shape 11"/>
          <p:cNvSpPr/>
          <p:nvPr/>
        </p:nvSpPr>
        <p:spPr>
          <a:xfrm>
            <a:off x="457200" y="6144768"/>
            <a:ext cx="11247120" cy="38404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6208776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✓ 충족 · 갭: 속도 이점은 있으나 현 단계 도입은 NOT_RECOMMENDED.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662940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KAERI-AIRL-MOM-2026-004 (예정) · 2026-05-28 narrative v3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92840" y="66294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8 / 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A-07 — DGX/고성능 GPU 서버 구매 사양 및 비용 견적 수집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4월 회의 원문 요구 → 5월 27일 narrative v3 수행 결과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5486400" cy="46177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73152" cy="46177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40817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1737360"/>
            <a:ext cx="5166360" cy="4087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"DGX/고성능 GPU 서버 구매 사양 및 비용 견적 수집. 담당: 서호성/안기범."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"NVIDIA DGX H100(80GB×8) 또는 DGX B200 등 옵션의 견적을 최소 2개 벤더로부터 수집한다."</a:t>
            </a:r>
            <a:endParaRPr lang="en-US" sz="990" dirty="0"/>
          </a:p>
          <a:p>
            <a:pPr indent="0" marL="0">
              <a:buNone/>
            </a:pP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VRAM 총량, NVLink, 전력/냉각, 납기, 유지보수 계약, 외부 벤더 2곳 이상 비교.</a:t>
            </a:r>
            <a:endParaRPr lang="en-US" sz="990" dirty="0"/>
          </a:p>
        </p:txBody>
      </p:sp>
      <p:sp>
        <p:nvSpPr>
          <p:cNvPr id="9" name="Shape 7"/>
          <p:cNvSpPr/>
          <p:nvPr/>
        </p:nvSpPr>
        <p:spPr>
          <a:xfrm>
            <a:off x="6217920" y="1298448"/>
            <a:ext cx="5486400" cy="46177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298448"/>
            <a:ext cx="73152" cy="4617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140817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수행 결과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82512" y="1737360"/>
            <a:ext cx="5166360" cy="4087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내용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비교 매트릭스와 점검 양식 작성. 비교 항목은 VRAM 총량, NVLink, 전력/냉각, 납기, 유지보수 계약, Desmond/FEP+/diffusion docking 연동 가능성으로 정리.</a:t>
            </a:r>
            <a:endParaRPr lang="en-US" sz="990" dirty="0"/>
          </a:p>
          <a:p>
            <a:pPr indent="0" marL="0">
              <a:buNone/>
            </a:pP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산출물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GPU 견적 비교 매트릭스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점검 양식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Schrödinger job throughput 추가 필요 항목</a:t>
            </a:r>
            <a:endParaRPr lang="en-US" sz="990" dirty="0"/>
          </a:p>
        </p:txBody>
      </p:sp>
      <p:sp>
        <p:nvSpPr>
          <p:cNvPr id="13" name="Shape 11"/>
          <p:cNvSpPr/>
          <p:nvPr/>
        </p:nvSpPr>
        <p:spPr>
          <a:xfrm>
            <a:off x="457200" y="6144768"/>
            <a:ext cx="11247120" cy="3840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6208776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△ 부분 충족 · 갭: 외부 벤더 견적 수집은 담당자 영역으로 남아 있음.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662940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KAERI-AIRL-MOM-2026-004 (예정) · 2026-05-28 narrative v3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92840" y="66294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9 / 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A-08 — 서버 마이그레이션 [삭제]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4월 회의 원문 요구 → 5월 27일 narrative v3 수행 결과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5486400" cy="46177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73152" cy="46177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40817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1737360"/>
            <a:ext cx="5166360" cy="4087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"라이브러리 서버 마이그레이션 완료 및 검증. 상태: 삭제. 비고: 완료/불요."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"외부망 서버 배포 완료로 본 항목은 삭제 처리한다."</a:t>
            </a:r>
            <a:endParaRPr lang="en-US" sz="990" dirty="0"/>
          </a:p>
          <a:p>
            <a:pPr indent="0" marL="0">
              <a:buNone/>
            </a:pP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당일 삭제 항목과 정합. 별도 수행 없음.</a:t>
            </a:r>
            <a:endParaRPr lang="en-US" sz="990" dirty="0"/>
          </a:p>
        </p:txBody>
      </p:sp>
      <p:sp>
        <p:nvSpPr>
          <p:cNvPr id="9" name="Shape 7"/>
          <p:cNvSpPr/>
          <p:nvPr/>
        </p:nvSpPr>
        <p:spPr>
          <a:xfrm>
            <a:off x="6217920" y="1298448"/>
            <a:ext cx="5486400" cy="46177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298448"/>
            <a:ext cx="73152" cy="4617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140817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수행 결과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82512" y="1737360"/>
            <a:ext cx="5166360" cy="4087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내용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회의록 결정과 정합. 산출물 또는 후속 KPI 없음.</a:t>
            </a:r>
            <a:endParaRPr lang="en-US" sz="990" dirty="0"/>
          </a:p>
          <a:p>
            <a:pPr indent="0" marL="0">
              <a:buNone/>
            </a:pP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산출물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N/A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당일 삭제 처리</a:t>
            </a:r>
            <a:endParaRPr lang="en-US" sz="990" dirty="0"/>
          </a:p>
        </p:txBody>
      </p:sp>
      <p:sp>
        <p:nvSpPr>
          <p:cNvPr id="13" name="Shape 11"/>
          <p:cNvSpPr/>
          <p:nvPr/>
        </p:nvSpPr>
        <p:spPr>
          <a:xfrm>
            <a:off x="457200" y="6144768"/>
            <a:ext cx="11247120" cy="384048"/>
          </a:xfrm>
          <a:prstGeom prst="rect">
            <a:avLst/>
          </a:prstGeom>
          <a:solidFill>
            <a:srgbClr val="9C9398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6208776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N/A 삭제 · 갭: 삭제 항목. 수행 실적으로 산입하지 않음.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662940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KAERI-AIRL-MOM-2026-004 (예정) · 2026-05-28 narrative v3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92840" y="66294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10 / 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A-09 — 최종 후보 3~4개 도출 및 합성 의뢰 준비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4월 회의 원문 요구 → 5월 27일 narrative v3 수행 결과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5486400" cy="46177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73152" cy="46177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40817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1737360"/>
            <a:ext cx="5166360" cy="4087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"최종 후보 3-4개 도출 및 합성 의뢰 준비 (파이프라인 1차 완전 실행)."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"Gate-1(계산) → Gate-2(표지/제조) 진행을 위한 핵심 마일스톤이다."</a:t>
            </a:r>
            <a:endParaRPr lang="en-US" sz="990" dirty="0"/>
          </a:p>
          <a:p>
            <a:pPr indent="0" marL="0">
              <a:buNone/>
            </a:pP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최종 후보 3~4개, 합성 의뢰서, tier_s_candidates.csv, ADMET/half-life 한계 명시.</a:t>
            </a:r>
            <a:endParaRPr lang="en-US" sz="990" dirty="0"/>
          </a:p>
        </p:txBody>
      </p:sp>
      <p:sp>
        <p:nvSpPr>
          <p:cNvPr id="9" name="Shape 7"/>
          <p:cNvSpPr/>
          <p:nvPr/>
        </p:nvSpPr>
        <p:spPr>
          <a:xfrm>
            <a:off x="6217920" y="1298448"/>
            <a:ext cx="5486400" cy="46177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298448"/>
            <a:ext cx="73152" cy="4617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140817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수행 결과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82512" y="1737360"/>
            <a:ext cx="5166360" cy="4087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내용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A-04 scoring을 전체 후보 라이브러리에 적용. PRST-001~004 네 개로 정리. PRST-001: Tier S, AGCKNIIWKTITSC, WSS=1.000, ΔG=-105.5 REU, II=28.5. PRST-002~004는 Tier B. sequence identity 86~93%로 다양성 WARN.</a:t>
            </a:r>
            <a:endParaRPr lang="en-US" sz="990" dirty="0"/>
          </a:p>
          <a:p>
            <a:pPr indent="0" marL="0">
              <a:buNone/>
            </a:pP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산출물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runs_local/final_candidates/synthesis_orders/PRST-001.md~PRST-004.md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tier_s_candidates.csv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tier_b_candidates.csv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 #63 main merge</a:t>
            </a:r>
            <a:endParaRPr lang="en-US" sz="990" dirty="0"/>
          </a:p>
        </p:txBody>
      </p:sp>
      <p:sp>
        <p:nvSpPr>
          <p:cNvPr id="13" name="Shape 11"/>
          <p:cNvSpPr/>
          <p:nvPr/>
        </p:nvSpPr>
        <p:spPr>
          <a:xfrm>
            <a:off x="457200" y="6144768"/>
            <a:ext cx="11247120" cy="38404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6208776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✓ 충족 · 갭: Gate-2 진입 결정은 회의 필요. ADMET/half-life 절대값 근거 아님.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662940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KAERI-AIRL-MOM-2026-004 (예정) · 2026-05-28 narrative v3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92840" y="66294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11 / 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A-10 — SSTR3 도킹 에러 원인 분석 및 해결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4월 회의 원문 요구 → 5월 27일 narrative v3 수행 결과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5486400" cy="46177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73152" cy="46177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40817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1737360"/>
            <a:ext cx="5166360" cy="4087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"SSTR3 도킹 에러 원인 분석 및 해결. 담당: AI팀. 기한: 5월 회의 전. 상태: 신규 A-01과 연동."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"SSTR3 PDB 구조의 전처리 상태를 점검한다."</a:t>
            </a:r>
            <a:endParaRPr lang="en-US" sz="990" dirty="0"/>
          </a:p>
          <a:p>
            <a:pPr indent="0" marL="0">
              <a:buNone/>
            </a:pP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SSTR3 PDB 구조 점검, 누락/충돌/B-factor 확인, 필요 시 루프 재구축 및 최소화.</a:t>
            </a:r>
            <a:endParaRPr lang="en-US" sz="990" dirty="0"/>
          </a:p>
        </p:txBody>
      </p:sp>
      <p:sp>
        <p:nvSpPr>
          <p:cNvPr id="9" name="Shape 7"/>
          <p:cNvSpPr/>
          <p:nvPr/>
        </p:nvSpPr>
        <p:spPr>
          <a:xfrm>
            <a:off x="6217920" y="1298448"/>
            <a:ext cx="5486400" cy="46177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298448"/>
            <a:ext cx="73152" cy="4617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140817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수행 결과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82512" y="1737360"/>
            <a:ext cx="5166360" cy="4087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내용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SSTR3 PDB(8XIR) 다중 chain 처리 로직 문제 확인. offtarget_dock.py에 chain 선택 로직 추가. smoke test ddg=-92.09 정상 실행. SSTR1/SSTR4 공유 signature로 인한 subtype mapping 위험 확인 후 고유 signature만 사용하는 방식으로 수정.</a:t>
            </a:r>
            <a:endParaRPr lang="en-US" sz="990" dirty="0"/>
          </a:p>
          <a:p>
            <a:pPr indent="0" marL="0">
              <a:buNone/>
            </a:pP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산출물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 #60 main merge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pipeline_local/tests/test_offtarget_dock_cif_chain.py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pipeline_local/tests/test_offtarget_dock_boltz.py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관련 테스트 48건 통과</a:t>
            </a:r>
            <a:endParaRPr lang="en-US" sz="990" dirty="0"/>
          </a:p>
        </p:txBody>
      </p:sp>
      <p:sp>
        <p:nvSpPr>
          <p:cNvPr id="13" name="Shape 11"/>
          <p:cNvSpPr/>
          <p:nvPr/>
        </p:nvSpPr>
        <p:spPr>
          <a:xfrm>
            <a:off x="457200" y="6144768"/>
            <a:ext cx="11247120" cy="38404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6208776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✓ 충족 · 갭: A-01 위치 지정 도킹과 연동해 해결.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662940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KAERI-AIRL-MOM-2026-004 (예정) · 2026-05-28 narrative v3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92840" y="66294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12 / 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9건 요약 매트릭스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KPI 기준: 신규 8건 중 6건 충족, 2건 부분 충족. A-08은 삭제 항목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61872"/>
          <a:ext cx="11247120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3337560"/>
                <a:gridCol w="5989320"/>
                <a:gridCol w="126187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번호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회의 요구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수행 결과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상태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A-01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SSTR1/3/4/5 위치 지정 도킹 좌표 + 재도킹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SSTR2 좌표 추출, cealign 정렬, RMSD 2.77~3.13 Å, 인터페이스 구현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충족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A-02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반감기 도구 5종 이상 비교 + 정확도 평가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7종 비교, D-AA 지원 도구 0개, Octreotide 4.83× 과대 추정 확인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b="1" dirty="0">
                          <a:solidFill>
                            <a:srgbClr val="D97706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부분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A-03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Fab-ADMET 정확도 + 자체 학습 가능성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Fab-ADMET=pepADMET 오기재 정정, D-AA/DOTA OOD 한계 확인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b="1" dirty="0">
                          <a:solidFill>
                            <a:srgbClr val="D97706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부분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A-04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ΔG+반감기+selectivity+ADMET 복합 스코어링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Hard Cutoff, WSS, Pareto front, Tier S/A/B/FAIL 구현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충족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A-05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SST14 reference ΔG n회 평균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FlexPepDock mean 553.857 REU, σ=4.024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충족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A-06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diffusion docking PoC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DiffPepDock SS bond 처리 한계, NOT_RECOMMENDED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충족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A-07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GPU 서버 2벤더 견적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비교 매트릭스 작성, 외부 견적 대기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b="1" dirty="0">
                          <a:solidFill>
                            <a:srgbClr val="D97706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부분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A-08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서버 마이그레이션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회의 당일 삭제 항목과 정합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b="1" dirty="0">
                          <a:solidFill>
                            <a:srgbClr val="9C9398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삭제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A-09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최종 후보 3~4개 + 합성 의뢰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PRST-001~004 및 의뢰서 4건 작성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충족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A-10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SSTR3 도킹 에러 해결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chain 선택 로직 및 subtype signature 수정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5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충족</a:t>
                      </a:r>
                      <a:endParaRPr lang="en-US" sz="86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897880"/>
            <a:ext cx="2743200" cy="65836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596188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6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325880" y="601675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충족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(신규 8건 중 6)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37560" y="5897880"/>
            <a:ext cx="2743200" cy="6583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7"/>
          <p:cNvSpPr/>
          <p:nvPr/>
        </p:nvSpPr>
        <p:spPr>
          <a:xfrm>
            <a:off x="3429000" y="596188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4206240" y="601675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부분 충족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17920" y="5897880"/>
            <a:ext cx="2743200" cy="65836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3" name="Text 10"/>
          <p:cNvSpPr/>
          <p:nvPr/>
        </p:nvSpPr>
        <p:spPr>
          <a:xfrm>
            <a:off x="6309360" y="596188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0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086600" y="601675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미달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9098280" y="5897880"/>
            <a:ext cx="2606040" cy="658368"/>
          </a:xfrm>
          <a:prstGeom prst="rect">
            <a:avLst/>
          </a:prstGeom>
          <a:solidFill>
            <a:srgbClr val="9C9398"/>
          </a:solidFill>
          <a:ln/>
        </p:spPr>
      </p:sp>
      <p:sp>
        <p:nvSpPr>
          <p:cNvPr id="16" name="Text 13"/>
          <p:cNvSpPr/>
          <p:nvPr/>
        </p:nvSpPr>
        <p:spPr>
          <a:xfrm>
            <a:off x="9189720" y="596188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9966960" y="6016752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삭제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662940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KAERI-AIRL-MOM-2026-004 (예정) · 2026-05-28 narrative v3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92840" y="66294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13 / 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문제 재정의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serum stability/ADMET 병목은 도구 부재가 아니라 학습 범위 밖 화학 공간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486400" cy="443484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73152" cy="443484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43560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PRST 후보의 동시 특성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1764792"/>
            <a:ext cx="5166360" cy="3904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SST-14 유사 14 aa peptide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Cys3-Cys14 SS bond 기반 cyclic constraint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D-AA 또는 비천연 AA 치환 가능성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DOTA 등 chelator 결합 가능성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SSTR2 selectivity와 radiolysis stability를 동시에 만족해야 하는 다목적 조건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6217920" y="1325880"/>
            <a:ext cx="5486400" cy="443484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325880"/>
            <a:ext cx="73152" cy="4434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143560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결론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82512" y="1764792"/>
            <a:ext cx="5166360" cy="3904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일반 L-AA peptide 또는 small molecule ADMET 모델은 이 조합에 대해 절대값 보정을 제공하지 못한다.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따라서 serum stability와 ADMET 문제는 단일 모델로 닫히지 않는다.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1F1B2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60624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Layer 2/3 출력은 합성 go/no-go의 절대 근거가 아니다.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662940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KAERI-AIRL-MOM-2026-004 (예정) · 2026-05-28 narrative v3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92840" y="66294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14 / 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 #85 3-Layer 구조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main 반영은 모듈 존재를 의미한다. enrichment 호출은 다음 슬라이드에서 분리해 보고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566160" cy="425196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425196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57276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Layer 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1901952"/>
            <a:ext cx="3246120" cy="3721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휴리스틱 계층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ProtParam, Instability Index, radiolysis-sensitive residue count, N-end rule 계열 값.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장점: 해석 가능성과 속도.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한계: D-AA, cyclic constraint, DOTA를 물리적으로 직접 다루지 못함.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4251960" y="1463040"/>
            <a:ext cx="3566160" cy="425196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1463040"/>
            <a:ext cx="73152" cy="4251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4416552" y="157276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Layer 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16552" y="1901952"/>
            <a:ext cx="3246120" cy="3721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ML regression 계층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half-life 연속값 예측. PEPlife2-GAT 재학습 검토.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초기 R²=-0.028 / Spearman ρ=-0.119 / MAE=33.12 h.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재학습 R²=0.022 / Spearman ρ=0.571 (실험 브랜치, seed 의존).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66160" cy="425196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463040"/>
            <a:ext cx="73152" cy="4251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8211312" y="157276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Layer 3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11312" y="1901952"/>
            <a:ext cx="3246120" cy="3721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ML classification 계층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toxicity, binary ADMET flag, OOD guard.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PRST 후보 ADMET=1.00은 D-AA·cyclic·DOTA 조합에 대해 외삽 가능성이 큼.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recommended_for_decision=False guard 필요.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457200" y="5925312"/>
            <a:ext cx="11247120" cy="438912"/>
          </a:xfrm>
          <a:prstGeom prst="rect">
            <a:avLst/>
          </a:prstGeom>
          <a:solidFill>
            <a:srgbClr val="1F1B2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600760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모듈 main 반영 ≠ enrichment 호출. 상세는 다음 슬라이드.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662940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KAERI-AIRL-MOM-2026-004 (예정) · 2026-05-28 narrative v3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92840" y="66294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15 / 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3-Layer는 타개책인가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해결책이 아니라 의사결정 오류 억제 framework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486400" cy="50749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73152" cy="50749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43560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판단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1764792"/>
            <a:ext cx="5166360" cy="45445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3-Layer Ensemble은 serum stability와 ADMET 문제의 해결책이 아니다.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현재 한계를 수치와 상태 플래그로 노출하고, 단일 도구 출력이 합성 결정으로 직행하지 못하게 막는 framework이다.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의미는 "예측 정확도 확보"보다 "의사결정 오류 억제"에 있다.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6217920" y="1325880"/>
            <a:ext cx="5486400" cy="50749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325880"/>
            <a:ext cx="73152" cy="5074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143560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Layer별 역할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82512" y="1764792"/>
            <a:ext cx="5166360" cy="45445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Layer 1: 빠른 제외 기준을 제공한다.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Layer 2: 현재 실패를 계량화한다.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Layer 3: OOD와 binary toxicity 경고를 부착한다.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ADMET/half-life 실측 없이 통과 판정을 받지 않는다.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662940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KAERI-AIRL-MOM-2026-004 (예정) · 2026-05-28 narrative v3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92840" y="66294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16 / 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⚠ 코드 실태와 narrative의 격차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 #85 main 반영과 표준 후보 enrichment 호출은 동치가 아니다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84048" y="1170432"/>
            <a:ext cx="11384280" cy="278892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10881360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05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enrich_candidates_from_wrappers는 run_routed_halflife / compute_layer1_halflife / predict_admet_layer3를 호출하지 않는다.</a:t>
            </a:r>
            <a:endParaRPr lang="en-US" sz="1005" dirty="0"/>
          </a:p>
          <a:p>
            <a:pPr indent="0" marL="0">
              <a:buNone/>
            </a:pPr>
            <a:r>
              <a:rPr lang="en-US" sz="1005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run_routed_halflife는 Layer 2만 실구현이고, Layer 1·3 반감기 경로는 스텁 메시지와 경고만 반환한다.</a:t>
            </a:r>
            <a:endParaRPr lang="en-US" sz="1005" dirty="0"/>
          </a:p>
          <a:p>
            <a:pPr indent="0" marL="0">
              <a:buNone/>
            </a:pPr>
            <a:r>
              <a:rPr lang="en-US" sz="1005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D-AA 표기 후보는 enrichment 진입 단계에서 스킵되어 UNAVAILABLE만 남는다. Layer 2 라우팅도 받지 않는다.</a:t>
            </a:r>
            <a:endParaRPr lang="en-US" sz="1005" dirty="0"/>
          </a:p>
          <a:p>
            <a:pPr indent="0" marL="0">
              <a:buNone/>
            </a:pPr>
            <a:r>
              <a:rPr lang="en-US" sz="1005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recommended_for_decision은 predict_admet_ai_wrapper.py에서만 항상 False이며 Tier/Hard Cutoff와 자동 결합되어 있지 않다.</a:t>
            </a:r>
            <a:endParaRPr lang="en-US" sz="1005" dirty="0"/>
          </a:p>
          <a:p>
            <a:pPr indent="0" marL="0">
              <a:buNone/>
            </a:pPr>
            <a:r>
              <a:rPr lang="en-US" sz="1005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PR #117(ADMET divergence guard)은 현재 브랜치 및 main 양쪽 모두에 포함되어 있지 않다.</a:t>
            </a:r>
            <a:endParaRPr lang="en-US" sz="1005" dirty="0"/>
          </a:p>
          <a:p>
            <a:pPr indent="0" marL="0">
              <a:buNone/>
            </a:pPr>
            <a:r>
              <a:rPr lang="en-US" sz="1005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PR #112(pepMSND Layer 2 재학습)는 OPEN이며 main 머지 commit이 없다.</a:t>
            </a:r>
            <a:endParaRPr lang="en-US" sz="1005" dirty="0"/>
          </a:p>
          <a:p>
            <a:pPr indent="0" marL="0">
              <a:buNone/>
            </a:pPr>
            <a:r>
              <a:rPr lang="en-US" sz="1005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PRST-001~004 합성 의뢰서에 Layer 1/2/3, ensemble_halflife_hours, ADMET-AI Layer 3 표기는 없다.</a:t>
            </a:r>
            <a:endParaRPr lang="en-US" sz="1005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60520"/>
          <a:ext cx="1124712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971800"/>
                <a:gridCol w="4160520"/>
                <a:gridCol w="24231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5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항목</a:t>
                      </a:r>
                      <a:endParaRPr lang="en-US" sz="83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5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PRST 의뢰서 표현</a:t>
                      </a:r>
                      <a:endParaRPr lang="en-US" sz="83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5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동일 명칭 코드 산출</a:t>
                      </a:r>
                      <a:endParaRPr lang="en-US" sz="83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5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정합 여부</a:t>
                      </a:r>
                      <a:endParaRPr lang="en-US" sz="83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반감기 수치 근거</a:t>
                      </a:r>
                      <a:endParaRPr lang="en-US" sz="83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step08_stability.py::predict_half_life, HEURISTIC</a:t>
                      </a:r>
                      <a:endParaRPr lang="en-US" sz="83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enrichment 선택 시 predict_halflife_pepmsnd; Layer 모듈은 비호출</a:t>
                      </a:r>
                      <a:endParaRPr lang="en-US" sz="83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5" b="1" dirty="0">
                          <a:solidFill>
                            <a:srgbClr val="D97706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부분 불일치</a:t>
                      </a:r>
                      <a:endParaRPr lang="en-US" sz="83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독성 1.00</a:t>
                      </a:r>
                      <a:endParaRPr lang="en-US" sz="83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pepADMET 로컬 재검증 + OOD 문구</a:t>
                      </a:r>
                      <a:endParaRPr lang="en-US" sz="83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재훈련 GNN 출력 + 레지스트리 경고 정합</a:t>
                      </a:r>
                      <a:endParaRPr lang="en-US" sz="83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5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의미상 일치</a:t>
                      </a:r>
                      <a:endParaRPr lang="en-US" sz="83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3-Layer 용어</a:t>
                      </a:r>
                      <a:endParaRPr lang="en-US" sz="83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미사용</a:t>
                      </a:r>
                      <a:endParaRPr lang="en-US" sz="83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모듈·테스트 존재</a:t>
                      </a:r>
                      <a:endParaRPr lang="en-US" sz="83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5" b="1" dirty="0">
                          <a:solidFill>
                            <a:srgbClr val="D97706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문서 간 갭</a:t>
                      </a:r>
                      <a:endParaRPr lang="en-US" sz="83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recommended_for_decision</a:t>
                      </a:r>
                      <a:endParaRPr lang="en-US" sz="83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없음</a:t>
                      </a:r>
                      <a:endParaRPr lang="en-US" sz="83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ADMET-AI wrapper에만 False 고정</a:t>
                      </a:r>
                      <a:endParaRPr lang="en-US" sz="83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5" b="1" dirty="0">
                          <a:solidFill>
                            <a:srgbClr val="B91C1C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서로 무관 레이어</a:t>
                      </a:r>
                      <a:endParaRPr lang="en-US" sz="83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61447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D97706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6월 회의까지 진행해야 할 항목은 "어느 엔진이 canonical인가"의 합의이다.</a:t>
            </a:r>
            <a:endParaRPr lang="en-US" sz="1120" dirty="0"/>
          </a:p>
        </p:txBody>
      </p:sp>
      <p:sp>
        <p:nvSpPr>
          <p:cNvPr id="9" name="Shape 6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662940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KAERI-AIRL-MOM-2026-004 (예정) · 2026-05-28 narrative v3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92840" y="66294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17 / 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Layer 3 ADMET-AI 차트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 #111: ADMET=1.00은 절대 독성 판정이 아니라 OOD 외삽 가능성 경고와 함께 해석</a:t>
            </a:r>
            <a:endParaRPr lang="en-US" sz="1400" dirty="0"/>
          </a:p>
        </p:txBody>
      </p:sp>
      <p:pic>
        <p:nvPicPr>
          <p:cNvPr id="5" name="Image 0" descr="/home/dongjukim/Documents/workspace/repos/SST14-M_scr/_workspace/admet_ai_local/charts/admet_ai_tier_scatter_toxicity_vs_absorption_prox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658368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0" y="1325880"/>
            <a:ext cx="4389120" cy="452628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0" y="1325880"/>
            <a:ext cx="73152" cy="4526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7479792" y="143560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해석 기준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79792" y="1764792"/>
            <a:ext cx="4069080" cy="3995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ADMET-AI wrapper는 recommended_for_decision=False를 항상 강제한다.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D-AA·cyclic·DOTA 조합은 학습 분포 밖(OOD) 외삽 가능성이 크다.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ADMET=1.00은 절대 독성 판정으로 해석하지 않는다.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Tier 결정 또는 Hard Cutoff 분기와 자동 결합되어 있지 않다.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합성 의뢰서에는 H-06 disclaimer와 OOD 해석 문장으로 정책을 흡수했다.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502920" y="6016752"/>
            <a:ext cx="1120140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6080760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Layer 3의 현재 역할은 판정이 아니라 외삽 위험을 표시하는 guard이다.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662940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KAERI-AIRL-MOM-2026-004 (예정) · 2026-05-28 narrative v3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92840" y="66294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18 / 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의사결정 루프 — 의도 vs 현실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§5.5 + §5.7: 자동화된 다중 조건은 아직 닫히지 않았다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486400" cy="420624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73152" cy="420624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43560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의도된 루프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1764792"/>
            <a:ext cx="5166360" cy="3675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1. Hard Cutoff와 WSS/Pareto로 후보 축소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2. Layer 1에서 즉시 산출 가능한 지표 부착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3. Layer 2 regression이 유효하지 않으면 수치로 남김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4. Layer 3 classification OOD이면 risk flag 전환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5. 합성 의뢰서에 Ki, serum stability, ADMET, hemolysis, cytotoxicity 실측 항목 포함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6. 실측값으로 다음 후보 생성과 scoring weight 보정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6217920" y="1325880"/>
            <a:ext cx="5486400" cy="420624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325880"/>
            <a:ext cx="73152" cy="4206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143560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현실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82512" y="1764792"/>
            <a:ext cx="5166360" cy="3675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현재 1·5·6은 작동한다.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2·3·4는 모듈은 존재하지만 표준 후보 enrichment 경로와 분리되어 있다.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사람이 H-06 disclaimer 문장과 OOD 해석으로 같은 기능을 수동 수행하고 있다.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PRST-001은 Tier S로 유지. PRST-002~004는 Tier B이며 실측 패키지 없이 백업 lead로 승격하지 않는다.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57200" y="5715000"/>
            <a:ext cx="11247120" cy="658368"/>
          </a:xfrm>
          <a:prstGeom prst="rect">
            <a:avLst/>
          </a:prstGeom>
          <a:solidFill>
            <a:srgbClr val="1F1B2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84301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파급효과: ΔG 중심에서 다중 조건 중심으로 이동 · OOD 후보도 실측 패키지로 넘기는 경로 · canonical 엔진 합의 시급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662940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KAERI-AIRL-MOM-2026-004 (예정) · 2026-05-28 narrative v3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92840" y="66294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19 / 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Schrödinger 검토 전제 + 현재 도구 한계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현재는 구매 결정이 아니라 6월까지 검토 진행 여부의 문제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486400" cy="50749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73152" cy="50749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43560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검토 전제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1764792"/>
            <a:ext cx="5166360" cy="45445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KAERI가 현재 Schrödinger 라이센스를 보유하지 않는 것으로 확인.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Schrödinger Korea 영업 연락과 라이센스 조건 확인은 아직 진행되지 않음.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아래 내용은 실제 적용 결과가 아니라 일반 문헌 벤치마크와 Schrödinger 공식 자료 기반 예상.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비용, 모듈 범위, 서버 연동, 첫 산출물 형식은 별도 정량화 필요.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6217920" y="1325880"/>
            <a:ext cx="5486400" cy="50749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325880"/>
            <a:ext cx="73152" cy="5074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143560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현재 자체 도구 한계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82512" y="1764792"/>
            <a:ext cx="5166360" cy="45445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1. PRST 후보 ADMET=1.00은 Layer 3 OOD 외삽 가능성이 큼.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2. Layer 2 half-life regression은 R²=-0.028로 의사결정용이 아님.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3. Layer 1은 시간 단위 half-life 합의값을 제공하지 못함.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4. DiffPepDock은 SS bond 처리 한계로 NOT_RECOMMENDED.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5. OpenMM/OpenFE/FlexPepDock/Boltz-2 조합은 cross-tool calibration 필요.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662940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KAERI-AIRL-MOM-2026-004 (예정) · 2026-05-28 narrative v3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92840" y="66294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20 / 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Schrödinger 모듈별 예상 효과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일반 벤치마크/공식 자료 기반 예상. 우리 시스템 적용 결과 아님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61872"/>
          <a:ext cx="113385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246120"/>
                <a:gridCol w="3657600"/>
                <a:gridCol w="315468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모듈</a:t>
                      </a:r>
                      <a:endParaRPr lang="en-US" sz="7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일반 벤치마크/공식 자료 기반</a:t>
                      </a:r>
                      <a:endParaRPr lang="en-US" sz="7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SST-14/SSTR2 적용 시 기대</a:t>
                      </a:r>
                      <a:endParaRPr lang="en-US" sz="7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검증 필요 사항</a:t>
                      </a:r>
                      <a:endParaRPr lang="en-US" sz="7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Glide SP/XP</a:t>
                      </a:r>
                      <a:endParaRPr lang="en-US" sz="7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peptide protocol에서 RMSD ≤2 Å 성공률 58%, FlexPepDock 63% 근접 보고</a:t>
                      </a:r>
                      <a:endParaRPr lang="en-US" sz="7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cyclic SST-14 계열 pose generation 비교 축</a:t>
                      </a:r>
                      <a:endParaRPr lang="en-US" sz="7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SS bond와 DOTA 처리</a:t>
                      </a:r>
                      <a:endParaRPr lang="en-US" sz="7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FEP+</a:t>
                      </a:r>
                      <a:endParaRPr lang="en-US" sz="7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pairwise RMSE 약 1.25 kcal/mol, edgewise RMSE 약 1.17 kcal/mol</a:t>
                      </a:r>
                      <a:endParaRPr lang="en-US" sz="7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A-05 reference와 modification 후보 ΔΔG 우선순위 보조</a:t>
                      </a:r>
                      <a:endParaRPr lang="en-US" sz="7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pose, parameterization, sampling</a:t>
                      </a:r>
                      <a:endParaRPr lang="en-US" sz="7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Desmond</a:t>
                      </a:r>
                      <a:endParaRPr lang="en-US" sz="7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GPU 기반 MD. ns/day는 system size와 GPU 의존</a:t>
                      </a:r>
                      <a:endParaRPr lang="en-US" sz="7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SS bond, DOTA 전후, RI 표지 후 stability MD</a:t>
                      </a:r>
                      <a:endParaRPr lang="en-US" sz="7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GPU throughput, trajectory 품질</a:t>
                      </a:r>
                      <a:endParaRPr lang="en-US" sz="7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Prime MM-GBSA</a:t>
                      </a:r>
                      <a:endParaRPr lang="en-US" sz="7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Glide pose rescoring과 relative binding free energy estimate</a:t>
                      </a:r>
                      <a:endParaRPr lang="en-US" sz="7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PRST-001~004 재랭킹 및 후보 압축 보조</a:t>
                      </a:r>
                      <a:endParaRPr lang="en-US" sz="7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절대 affinity로 쓰지 않음</a:t>
                      </a:r>
                      <a:endParaRPr lang="en-US" sz="7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WaterMap</a:t>
                      </a:r>
                      <a:endParaRPr lang="en-US" sz="7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pocket water 위치/에너지 및 high-energy water 분석</a:t>
                      </a:r>
                      <a:endParaRPr lang="en-US" sz="7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subtype pocket hydration 차이를 selectivity 해석에 연결</a:t>
                      </a:r>
                      <a:endParaRPr lang="en-US" sz="7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직접 ADMET 해결 아님</a:t>
                      </a:r>
                      <a:endParaRPr lang="en-US" sz="7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BioLuminate</a:t>
                      </a:r>
                      <a:endParaRPr lang="en-US" sz="7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biopolymer modeling, peptide/protein engineering workflow</a:t>
                      </a:r>
                      <a:endParaRPr lang="en-US" sz="7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cyclic peptide, D-AA, DOTA 세팅 전처리 축</a:t>
                      </a:r>
                      <a:endParaRPr lang="en-US" sz="7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parameterization 가능성</a:t>
                      </a:r>
                      <a:endParaRPr lang="en-US" sz="78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989320"/>
            <a:ext cx="11247120" cy="384048"/>
          </a:xfrm>
          <a:prstGeom prst="rect">
            <a:avLst/>
          </a:prstGeom>
          <a:solidFill>
            <a:srgbClr val="1F1B24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605332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벤치마크 출처는 부록 참조. 우리 시스템 적용 결과 아님.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662940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KAERI-AIRL-MOM-2026-004 (예정) · 2026-05-28 narrative v3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92840" y="66294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21 / 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6월까지 가능한 산출물 + GPU 연계 + 대안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도입 검토 승인 시에도 6월 산출물은 sanity 수준으로 제한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257800" cy="452628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73152" cy="452628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43560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6월까지 단계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1764792"/>
            <a:ext cx="4937760" cy="3995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1. 라이센스 조건 확인: 학술/비상업/기관 과제 범위, 모듈 포함 여부.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2. 설치 및 환경 셋업: Maestro, Glide, Prime, Desmond, FEP+, BioLuminate, WaterMap 중 대상 확인.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3. GPU/CPU 연동 확인: Desmond/FEP+ scheduler, A-07 GPU 견적 연동.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4. 입력 구조 준비: SSTR2, PRST-001, SST-14 reference, SS bond, DOTA 여부.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5. 첫 산출물: docking pose, Prime MM-GBSA rescoring, 짧은 Desmond sanity MD.</a:t>
            </a:r>
            <a:endParaRPr lang="en-US" sz="97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325880"/>
          <a:ext cx="5715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31720"/>
                <a:gridCol w="256032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5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항목</a:t>
                      </a:r>
                      <a:endParaRPr lang="en-US" sz="75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5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Schrödinger 도입</a:t>
                      </a:r>
                      <a:endParaRPr lang="en-US" sz="75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5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자체 ML/오픈소스 경로</a:t>
                      </a:r>
                      <a:endParaRPr lang="en-US" sz="75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비용</a:t>
                      </a:r>
                      <a:endParaRPr lang="en-US" sz="75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라이센스 비용 및 모듈별 견적 필요</a:t>
                      </a:r>
                      <a:endParaRPr lang="en-US" sz="75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직접 라이센스 비용은 낮으나 인력 시간이 큼</a:t>
                      </a:r>
                      <a:endParaRPr lang="en-US" sz="75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일정</a:t>
                      </a:r>
                      <a:endParaRPr lang="en-US" sz="75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설치 후 sanity output은 빠를 수 있으나 계약 리드타임 존재</a:t>
                      </a:r>
                      <a:endParaRPr lang="en-US" sz="75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즉시 착수 가능하나 안정화와 검증 시간이 길다</a:t>
                      </a:r>
                      <a:endParaRPr lang="en-US" sz="75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정확도</a:t>
                      </a:r>
                      <a:endParaRPr lang="en-US" sz="75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FEP+ 등 벤치마크 존재, system validation 필요</a:t>
                      </a:r>
                      <a:endParaRPr lang="en-US" sz="75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현재 Layer 2 R²=-0.028로 출발점 낮음</a:t>
                      </a:r>
                      <a:endParaRPr lang="en-US" sz="75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인력</a:t>
                      </a:r>
                      <a:endParaRPr lang="en-US" sz="75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상용 workflow 학습 필요</a:t>
                      </a:r>
                      <a:endParaRPr lang="en-US" sz="75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모델 학습, 데이터 큐레이션, force field 세팅 역량 필요</a:t>
                      </a:r>
                      <a:endParaRPr lang="en-US" sz="75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재현성</a:t>
                      </a:r>
                      <a:endParaRPr lang="en-US" sz="75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Maestro project/job 중심 관리</a:t>
                      </a:r>
                      <a:endParaRPr lang="en-US" sz="75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코드 기반 재현성은 높일 수 있으나 운영 부담 큼</a:t>
                      </a:r>
                      <a:endParaRPr lang="en-US" sz="75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D-AA/DOTA</a:t>
                      </a:r>
                      <a:endParaRPr lang="en-US" sz="75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parameterization 확인 필요</a:t>
                      </a:r>
                      <a:endParaRPr lang="en-US" sz="75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5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직접 parameterization 및 검증 필요</a:t>
                      </a:r>
                      <a:endParaRPr lang="en-US" sz="755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94360" y="614476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A-07 견적 비교에는 Desmond GPU support, FEP+ 병렬화, NVLink 필요성, 라이센스 token과 GPU 수 병목을 추가한다.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" y="662940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KAERI-AIRL-MOM-2026-004 (예정) · 2026-05-28 narrative v3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92840" y="66294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22 / 26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5월 28일 회의 의사결정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누가 어느 결정을 내려야 하는지 한 번에 확인</a:t>
            </a:r>
            <a:endParaRPr lang="en-US" sz="1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2423160"/>
                <a:gridCol w="594360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항목</a:t>
                      </a:r>
                      <a:endParaRPr lang="en-US" sz="94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결정 주체</a:t>
                      </a:r>
                      <a:endParaRPr lang="en-US" sz="94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결정 내용</a:t>
                      </a:r>
                      <a:endParaRPr lang="en-US" sz="94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§7.1 PRST-001~004 합성 진행 범위</a:t>
                      </a:r>
                      <a:endParaRPr lang="en-US" sz="94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서호성 박사 + RI팀</a:t>
                      </a:r>
                      <a:endParaRPr lang="en-US" sz="94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네 후보 전체를 보낼지, PRST-001 우선으로 줄일지. 실험 패키지 포함 필요.</a:t>
                      </a:r>
                      <a:endParaRPr lang="en-US" sz="94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§7.2 pepADMET 라이센스 및 저자 문의</a:t>
                      </a:r>
                      <a:endParaRPr lang="en-US" sz="94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KAERI 행정·법무 + AI팀</a:t>
                      </a:r>
                      <a:endParaRPr lang="en-US" sz="94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GPL-3.0 / CC BY-NC-SA 4.0 조건 법무 검토, half-life endpoint weight 또는 training data 문의.</a:t>
                      </a:r>
                      <a:endParaRPr lang="en-US" sz="94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§7.3 A-07 GPU 견적</a:t>
                      </a:r>
                      <a:endParaRPr lang="en-US" sz="94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서호성 박사 + 안기범 박사</a:t>
                      </a:r>
                      <a:endParaRPr lang="en-US" sz="94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DGX H100, DGX B200 또는 기존 외부망 서버 확장 여부 비교.</a:t>
                      </a:r>
                      <a:endParaRPr lang="en-US" sz="94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§7.4 Schrödinger 도입 검토</a:t>
                      </a:r>
                      <a:endParaRPr lang="en-US" sz="94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회의 참석 전원</a:t>
                      </a:r>
                      <a:endParaRPr lang="en-US" sz="94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6월까지 검토를 진행할지. 구매 결정은 6월 정량화 후 판단.</a:t>
                      </a:r>
                      <a:endParaRPr lang="en-US" sz="94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§7.5 6월 회의 기준 산출물</a:t>
                      </a:r>
                      <a:endParaRPr lang="en-US" sz="94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본 발표 후 회의 합의</a:t>
                      </a:r>
                      <a:endParaRPr lang="en-US" sz="94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산출물 범위를 제한하고 선행조건을 합의.</a:t>
                      </a:r>
                      <a:endParaRPr lang="en-US" sz="94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5806440"/>
            <a:ext cx="1115568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591616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PRST-001은 Tier S이나 ADMET/half-life 계산값은 절대 근거가 아니다.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662940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KAERI-AIRL-MOM-2026-004 (예정) · 2026-05-28 narrative v3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92840" y="66294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23 / 26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6월 회의 기준 산출물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§7.1 합성 발주 결정이 실측 항목의 선행 조건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554480"/>
            <a:ext cx="3840480" cy="274320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54480"/>
            <a:ext cx="73152" cy="274320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6642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선행 조건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58952" y="1993392"/>
            <a:ext cx="3520440" cy="22128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§7.1 PRST-001~004 합성 발주 결정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→ 합성 진행 상태가 있어야 실측 항목 4~6이 의미를 갖는다.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09160" y="2395728"/>
            <a:ext cx="1005840" cy="502920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5989320" y="1325880"/>
            <a:ext cx="5394960" cy="429768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89320" y="1325880"/>
            <a:ext cx="73152" cy="4297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153912" y="143560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6월 산출물 체크리스트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153912" y="1764792"/>
            <a:ext cx="5074920" cy="3767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□ PRST-001~004 합성 진행 상태 또는 발주 결정 결과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□ pepADMET 법무/저자 문의 진행 상태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□ Layer 2 half-life 개선 여부 또는 실패 원인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□ Schrödinger 도입 검토 결과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□ A-07 GPU 견적 비교표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□ 실측 데이터가 확보되면 계산값과의 불일치 분석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6월 회의부터는 "예측값 보고"가 아니라 "예측값과 실측값의 불일치 보고"가 중요해진다.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662940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KAERI-AIRL-MOM-2026-004 (예정) · 2026-05-28 narrative v3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92840" y="66294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24 / 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발표 종료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narrative v3 §8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10744200" cy="429768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17320"/>
            <a:ext cx="91440" cy="429768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64208"/>
            <a:ext cx="1019556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4월 회의에서 받은 신규 Action Item 8건 중 6건은 충족했고, A-02/A-03은 D-AA·cyclic·DOTA 조합의 도구 부재로 부분 충족에 머물렀다.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최종 후보 PRST-001~004는 도출되었고 합성 의뢰서도 작성되었다.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다만 이 후보들은 ADMET과 serum stability 계산값만으로 통과 판정을 받을 수 없다.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 #85의 3-Layer Ensemble 모듈은 이 한계를 해결하지 않는다.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대신 한계를 수치와 경고 플래그로 노출하고, 단일 도구 출력의 과신을 막고, wet-lab 실측의 필요성을 명시하는 framework이다.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현재 표준 enrichment 경로가 이 framework를 호출하지 않는 상태이므로, 6월 회의까지 enrichment 정합 작업이 함께 진행되어야 narrative와 코드 사이의 격차가 닫힌다.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Schrödinger 도입 검토는 이 한계 중 docking, rescoring, MD, FEP, hydration analysis를 상용 workflow로 줄일 수 있는지 확인하는 선택지이다.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현재는 라이센스와 비용이 확인되지 않았으므로 결정 사항이 아니라 검토 사항이다.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5월 28일 회의에서 필요한 결정은 합성 범위, 실측 패키지, pepADMET 법무/저자 문의, GPU 견적 진행, Schrödinger 도입 검토 승인이다.</a:t>
            </a:r>
            <a:endParaRPr lang="en-US" sz="1310" dirty="0"/>
          </a:p>
        </p:txBody>
      </p:sp>
      <p:sp>
        <p:nvSpPr>
          <p:cNvPr id="8" name="Shape 6"/>
          <p:cNvSpPr/>
          <p:nvPr/>
        </p:nvSpPr>
        <p:spPr>
          <a:xfrm>
            <a:off x="731520" y="5897880"/>
            <a:ext cx="10744200" cy="384048"/>
          </a:xfrm>
          <a:prstGeom prst="rect">
            <a:avLst/>
          </a:prstGeom>
          <a:solidFill>
            <a:srgbClr val="1F1B24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5961888"/>
            <a:ext cx="10378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 #85 모듈은 해결책이 아니라 한계 노출 framework. enrichment 정합 작업이 6월 회의까지 진행되어야 한다.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662940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KAERI-AIRL-MOM-2026-004 (예정) · 2026-05-28 narrative v3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92840" y="66294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25 / 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Schrödinger 벤치마크 참고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부록 C: SST-14/SSTR2 실측값이 아니라 일반 문헌 및 공식 자료 기반 참고값</a:t>
            </a:r>
            <a:endParaRPr lang="en-US" sz="1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5568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90982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항목</a:t>
                      </a:r>
                      <a:endParaRPr lang="en-US" sz="86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참고</a:t>
                      </a:r>
                      <a:endParaRPr lang="en-US" sz="86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Glide peptide docking</a:t>
                      </a:r>
                      <a:endParaRPr lang="en-US" sz="86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Tubert-Brohman et al., 2013 JCIM: enhanced peptide protocol에서 top-10 pose 기준 RMSD ≤2 Å 성공률 58%, FlexPepDock 63%와 비교</a:t>
                      </a:r>
                      <a:endParaRPr lang="en-US" sz="86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FEP+</a:t>
                      </a:r>
                      <a:endParaRPr lang="en-US" sz="86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large-scale FEP+ benchmark: pairwise RMSE 1.25 kcal/mol, edgewise RMSE 1.17 kcal/mol; Schrödinger 공식 자료는 ~1 kcal/mol 수준 제시</a:t>
                      </a:r>
                      <a:endParaRPr lang="en-US" sz="86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Desmond</a:t>
                      </a:r>
                      <a:endParaRPr lang="en-US" sz="86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Schrödinger 공식 GPU performance table은 GPU별 ns/day 성능을 제시하나 system size 의존성이 큼</a:t>
                      </a:r>
                      <a:endParaRPr lang="en-US" sz="86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Prime MM-GBSA</a:t>
                      </a:r>
                      <a:endParaRPr lang="en-US" sz="86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Glide pose 후처리 및 relative free energy estimate에 사용. docking score 단독의 affinity 한계를 보완하나 절대값 모델은 아님</a:t>
                      </a:r>
                      <a:endParaRPr lang="en-US" sz="86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WaterMap</a:t>
                      </a:r>
                      <a:endParaRPr lang="en-US" sz="86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binding pocket water location/energetics 및 high-energy displaceable water 분석</a:t>
                      </a:r>
                      <a:endParaRPr lang="en-US" sz="86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BioLuminate</a:t>
                      </a:r>
                      <a:endParaRPr lang="en-US" sz="86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biopolymer/peptide modeling workflow. D-AA·DOTA 처리는 실제 parameterization 검토 필요</a:t>
                      </a:r>
                      <a:endParaRPr lang="en-US" sz="86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5C56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참고 URL: Schrödinger FEP+, WaterMap, Desmond GPU performance table, Glide docking white paper, FEP+ benchmark, Glide peptide docking paper</a:t>
            </a:r>
            <a:endParaRPr lang="en-US" sz="840" dirty="0"/>
          </a:p>
        </p:txBody>
      </p:sp>
      <p:sp>
        <p:nvSpPr>
          <p:cNvPr id="7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62940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KAERI-AIRL-MOM-2026-004 (예정) · 2026-05-28 narrative v3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92840" y="662940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26 / 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KAERI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Action Items 9건 — 수행 결과 및 의사결정 요청</dc:title>
  <dc:subject>2026-05-28 meeting narrative v3</dc:subject>
  <dc:creator>KAERI AI-RI Lab</dc:creator>
  <cp:lastModifiedBy>KAERI AI-RI Lab</cp:lastModifiedBy>
  <cp:revision>1</cp:revision>
  <dcterms:created xsi:type="dcterms:W3CDTF">2026-05-27T06:47:45Z</dcterms:created>
  <dcterms:modified xsi:type="dcterms:W3CDTF">2026-05-27T06:47:45Z</dcterms:modified>
</cp:coreProperties>
</file>