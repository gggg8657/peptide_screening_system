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566928"/>
            <a:ext cx="2240280" cy="2240280"/>
          </a:xfrm>
          <a:prstGeom prst="ellipse">
            <a:avLst/>
          </a:prstGeom>
          <a:solidFill>
            <a:srgbClr val="0D3B66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12680" y="932688"/>
            <a:ext cx="1508760" cy="1508760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1271016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RADIOPHARMACEUTICAL DISCOVERY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196596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SSTR2 선택성 후보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무한 발굴 Agentic AI 시스템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SST-14 (AGCKNFFWKTFTSC · Cys3–Cys14 이황화 · FWKT 파마코포어) 변이체를 PyRosetta 실측 도킹 + LLM 에이전트 루프로 무한 탐색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074920"/>
            <a:ext cx="3383280" cy="960120"/>
          </a:xfrm>
          <a:prstGeom prst="rect">
            <a:avLst/>
          </a:prstGeom>
          <a:solidFill>
            <a:srgbClr val="1129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193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54681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SSTR2 선택성 ↑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97680" y="5074920"/>
            <a:ext cx="3383280" cy="960120"/>
          </a:xfrm>
          <a:prstGeom prst="rect">
            <a:avLst/>
          </a:prstGeom>
          <a:solidFill>
            <a:srgbClr val="1129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5193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26280" y="54681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PyRosetta + Qwen3-32B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955280" y="5074920"/>
            <a:ext cx="3383280" cy="960120"/>
          </a:xfrm>
          <a:prstGeom prst="rect">
            <a:avLst/>
          </a:prstGeom>
          <a:solidFill>
            <a:srgbClr val="1129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83880" y="5193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183880" y="54681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까지 무한 epoch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무엇을, 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개요와 성공 기준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천연 SST-14 는 SSTR1~5 에 고루 결합하는 pan-agonist 다. 본 시스템은 SST-14 를 변이시켜 SSTR2 에는 강하게, 나머지 아형(SSTR1/3/4/5)에는 약하게 결합하는 후보를 발굴한다.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0" y="1371600"/>
            <a:ext cx="4297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0" y="1371600"/>
            <a:ext cx="82296" cy="187452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0" y="15727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성공 기준 (오늘 GOAL)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38160" y="201168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Δmargin &gt; 0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(native SST-14 초과 선택성)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 ≤ −15 kcal/mol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(강한 SSTR2 결합)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독성 ≤ native (hc50)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3611880"/>
            <a:ext cx="82296" cy="25146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0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실측 ΔG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9808" y="4983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PyRosetta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FlexPepDock + InterfaceAnalyzer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337560" y="361188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337560" y="3611880"/>
            <a:ext cx="82296" cy="25146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840480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38728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선택성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3538728" y="4983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off-target 5종 도킹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Δmargin (home-advantage 보정)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26480" y="361188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26480" y="3611880"/>
            <a:ext cx="82296" cy="25146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840480"/>
            <a:ext cx="566928" cy="5669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27648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혈중 반감기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327648" y="4983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log-multiplicative + RF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(PEPlife2, CV ρ=0.78) 앙상블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8915400" y="361188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915400" y="3611880"/>
            <a:ext cx="82296" cy="25146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840480"/>
            <a:ext cx="566928" cy="5669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16568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ADMET·독성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9116568" y="4983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+ pepADMET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hc50 native 대비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· 데이터 흐름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전체 아키텍처 — 계층 +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9966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82296" cy="749808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입력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11880" y="1417320"/>
            <a:ext cx="6812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SSTR2–SST-14 복합체 PDB (Boltz) · 천연 서열 AGCKNFFWKTFTSC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40680" y="2162556"/>
            <a:ext cx="109728" cy="123444"/>
          </a:xfrm>
          <a:prstGeom prst="rect">
            <a:avLst/>
          </a:prstGeom>
          <a:solidFill>
            <a:srgbClr val="5A6B8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90572"/>
            <a:ext cx="9966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90572"/>
            <a:ext cx="82296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9057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LLM 레이어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290572"/>
            <a:ext cx="6812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Qwen3-32B (port 8000) · Planner / Critic / Reporter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40680" y="3035808"/>
            <a:ext cx="109728" cy="123444"/>
          </a:xfrm>
          <a:prstGeom prst="rect">
            <a:avLst/>
          </a:prstGeom>
          <a:solidFill>
            <a:srgbClr val="5A6B82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163824"/>
            <a:ext cx="9966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63824"/>
            <a:ext cx="82296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6382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Agentic 루프 (epoch)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11880" y="3163824"/>
            <a:ext cx="6812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mutate&amp;dock → scoring → in-loop 선택성 → QC/bandit/BO → critic → reporter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40680" y="3909060"/>
            <a:ext cx="109728" cy="123444"/>
          </a:xfrm>
          <a:prstGeom prst="rect">
            <a:avLst/>
          </a:prstGeom>
          <a:solidFill>
            <a:srgbClr val="5A6B82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037076"/>
            <a:ext cx="9966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037076"/>
            <a:ext cx="82296" cy="749808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3707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다목적 스코어링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11880" y="4037076"/>
            <a:ext cx="6812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 · 반감기 · Δmargin 선택성 · ADMET/hc50  →  NSGA-II Pareto + scalar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40680" y="4782312"/>
            <a:ext cx="109728" cy="123444"/>
          </a:xfrm>
          <a:prstGeom prst="rect">
            <a:avLst/>
          </a:prstGeom>
          <a:solidFill>
            <a:srgbClr val="5A6B82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910328"/>
            <a:ext cx="9966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910328"/>
            <a:ext cx="82296" cy="749808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91032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 영속성 (run 간 기억)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11880" y="4910328"/>
            <a:ext cx="6812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experiment_log.jsonl · global_selectivity_leaderboard.json · baseline_cache.json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40680" y="5655564"/>
            <a:ext cx="109728" cy="123444"/>
          </a:xfrm>
          <a:prstGeom prst="rect">
            <a:avLst/>
          </a:prstGeom>
          <a:solidFill>
            <a:srgbClr val="5A6B82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783580"/>
            <a:ext cx="9966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5783580"/>
            <a:ext cx="82296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7835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⑥ 오케스트레이터 / UI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11880" y="5783580"/>
            <a:ext cx="6812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무한 epoch (STOP·control·다양성탈출) · FastAPI 8787 + React 5173 대시보드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0744200" y="1417320"/>
            <a:ext cx="1280160" cy="5074920"/>
          </a:xfrm>
          <a:prstGeom prst="rect">
            <a:avLst/>
          </a:prstGeom>
          <a:solidFill>
            <a:srgbClr val="0D3B66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744200" y="1417320"/>
            <a:ext cx="82296" cy="5074920"/>
          </a:xfrm>
          <a:prstGeom prst="rect">
            <a:avLst/>
          </a:prstGeom>
          <a:solidFill>
            <a:srgbClr val="EF6F6C"/>
          </a:solidFill>
          <a:ln/>
        </p:spPr>
      </p:sp>
      <p:sp>
        <p:nvSpPr>
          <p:cNvPr id="35" name="Text 33"/>
          <p:cNvSpPr/>
          <p:nvPr/>
        </p:nvSpPr>
        <p:spPr>
          <a:xfrm>
            <a:off x="10771632" y="157276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원칙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835640" y="2011680"/>
            <a:ext cx="111556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도킹→999/NaN, 랭킹 제외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우선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점수 금지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병렬화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수용체 5종 동시 도킹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 · 추론 두뇌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레이어 — vLLM Qwen3-32B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82296" cy="105156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2763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4813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서빙 — Qwen3-32B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localhost:8000 · H100(GPU2) · ~40 tok/s · enable_thinking=false (no-think, content만) · OpenAI 호환 API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35204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743200"/>
            <a:ext cx="82296" cy="3429000"/>
          </a:xfrm>
          <a:prstGeom prst="rect">
            <a:avLst/>
          </a:prstGeom>
          <a:solidFill>
            <a:srgbClr val="0D3B6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718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Planner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7724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변이 가설 + focus 위치 생성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22960" y="411480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SSTR2-고유 잔기(ECL2/ECL3/TM5/TM6) 상보 유도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FWKT(7-10)·Cys3/14 보존 강제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선택성 리더보드·Δmargin 표시 반영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79392" y="2743200"/>
            <a:ext cx="35204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79392" y="2743200"/>
            <a:ext cx="82296" cy="34290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9718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48072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4507992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분석 → 파라미터 조정 ≤2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53712" y="411480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분류: 구조/서열/도킹/안정성/선택성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Δmargin≤0 = 캠페인 미성공 진단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off-target 회피 변이 제안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010144" y="2743200"/>
            <a:ext cx="35204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10144" y="2743200"/>
            <a:ext cx="82296" cy="34290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297180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878824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Reporter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8238744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노트 엔트리 생성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284464" y="411480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요약 · 핵심 지표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후보 ID·점수·선택성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게이트 통과/실패 기록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 · epoch 1회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epoch 당 Agentic 루프 — 8 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334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82296" cy="187452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55648"/>
            <a:ext cx="566928" cy="566928"/>
          </a:xfrm>
          <a:prstGeom prst="ellipse">
            <a:avLst/>
          </a:prstGeom>
          <a:solidFill>
            <a:srgbClr val="0D3B6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44752" y="179222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68096" y="245059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SST-14 도킹(첫 epoch만, 이후 캐시 재사용)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45536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64992" y="1554480"/>
            <a:ext cx="26334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64992" y="1554480"/>
            <a:ext cx="82296" cy="1874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7556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61104" y="179222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584448" y="245059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변이 가설·focus 위치 (선택성 인지)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61888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81344" y="1554480"/>
            <a:ext cx="26334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1554480"/>
            <a:ext cx="82296" cy="1874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82512" y="175564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77456" y="179222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Mutate → Dock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0" y="245059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PyRosetta FlexPepDock 병렬 · scaffold 가드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0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997696" y="1554480"/>
            <a:ext cx="26334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97696" y="1554480"/>
            <a:ext cx="82296" cy="187452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27" name="Shape 25"/>
          <p:cNvSpPr/>
          <p:nvPr/>
        </p:nvSpPr>
        <p:spPr>
          <a:xfrm>
            <a:off x="9198864" y="1755648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8" name="Text 26"/>
          <p:cNvSpPr/>
          <p:nvPr/>
        </p:nvSpPr>
        <p:spPr>
          <a:xfrm>
            <a:off x="9198864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893808" y="179222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217152" y="245059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 + 반감기 + ADMET/hc50 + GNINA + ECR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749040"/>
            <a:ext cx="26334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749040"/>
            <a:ext cx="82296" cy="1874520"/>
          </a:xfrm>
          <a:prstGeom prst="rect">
            <a:avLst/>
          </a:prstGeom>
          <a:solidFill>
            <a:srgbClr val="EF6F6C"/>
          </a:solidFill>
          <a:ln/>
        </p:spPr>
      </p:sp>
      <p:sp>
        <p:nvSpPr>
          <p:cNvPr id="33" name="Shape 31"/>
          <p:cNvSpPr/>
          <p:nvPr/>
        </p:nvSpPr>
        <p:spPr>
          <a:xfrm>
            <a:off x="749808" y="3950208"/>
            <a:ext cx="566928" cy="566928"/>
          </a:xfrm>
          <a:prstGeom prst="ellipse">
            <a:avLst/>
          </a:prstGeom>
          <a:solidFill>
            <a:srgbClr val="EF6F6C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444752" y="39867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In-loop 선택성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768096" y="464515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유망 후보만 off-target 도킹 → Δmargin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145536" y="4206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3364992" y="3749040"/>
            <a:ext cx="26334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364992" y="3749040"/>
            <a:ext cx="82296" cy="1874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Shape 38"/>
          <p:cNvSpPr/>
          <p:nvPr/>
        </p:nvSpPr>
        <p:spPr>
          <a:xfrm>
            <a:off x="3566160" y="395020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3566160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261104" y="39867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QC · Bandit · BO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3584448" y="464515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QCRanker + Thompson + 베이지안 + 수렴감지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61888" y="4206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6181344" y="3749040"/>
            <a:ext cx="26334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81344" y="3749040"/>
            <a:ext cx="82296" cy="187452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47" name="Shape 45"/>
          <p:cNvSpPr/>
          <p:nvPr/>
        </p:nvSpPr>
        <p:spPr>
          <a:xfrm>
            <a:off x="6382512" y="3950208"/>
            <a:ext cx="566928" cy="566928"/>
          </a:xfrm>
          <a:prstGeom prst="ellipse">
            <a:avLst/>
          </a:prstGeom>
          <a:solidFill>
            <a:srgbClr val="0D3B66"/>
          </a:solidFill>
          <a:ln/>
        </p:spPr>
      </p:sp>
      <p:sp>
        <p:nvSpPr>
          <p:cNvPr id="48" name="Text 46"/>
          <p:cNvSpPr/>
          <p:nvPr/>
        </p:nvSpPr>
        <p:spPr>
          <a:xfrm>
            <a:off x="6382512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077456" y="39867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6400800" y="464515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분석 → 다음 iteration 파라미터 조정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778240" y="4206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8997696" y="3749040"/>
            <a:ext cx="26334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997696" y="3749040"/>
            <a:ext cx="82296" cy="1874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4" name="Shape 52"/>
          <p:cNvSpPr/>
          <p:nvPr/>
        </p:nvSpPr>
        <p:spPr>
          <a:xfrm>
            <a:off x="9198864" y="395020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5" name="Text 53"/>
          <p:cNvSpPr/>
          <p:nvPr/>
        </p:nvSpPr>
        <p:spPr>
          <a:xfrm>
            <a:off x="9198864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9893808" y="39867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Reporter</a:t>
            </a:r>
            <a:endParaRPr lang="en-US" sz="1550" dirty="0"/>
          </a:p>
        </p:txBody>
      </p:sp>
      <p:sp>
        <p:nvSpPr>
          <p:cNvPr id="57" name="Text 55"/>
          <p:cNvSpPr/>
          <p:nvPr/>
        </p:nvSpPr>
        <p:spPr>
          <a:xfrm>
            <a:off x="9217152" y="464515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노트 + 글로벌 리더보드 영속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수렴 시 종료가 아니라 다양성 주입으로 계속 — 무한 발굴의 핵심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 ENGINE · PyRosetta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PyRosetta 도킹 파이프라인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82296" cy="2286000"/>
          </a:xfrm>
          <a:prstGeom prst="rect">
            <a:avLst/>
          </a:prstGeom>
          <a:solidFill>
            <a:srgbClr val="0D3B6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2763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45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On-target (SSTR2)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변이 적용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(template_pdb 기준, Rosetta resfile)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FlexPepDock refine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(전원자 정밀화)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InterfaceAnalyzer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ΔG(실측) · clash · total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1417320"/>
            <a:ext cx="82296" cy="22860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2763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645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Scaffold 가드 (변이 제약)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2240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보존: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Cys3·Cys14 이황화 + FWKT(7-10) 파마코포어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변이 가능: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1·2·4·5·6·11·12 만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거부: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이황화/파마코포어 파괴 변이 (자동 reject)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931920"/>
            <a:ext cx="82296" cy="2194560"/>
          </a:xfrm>
          <a:prstGeom prst="rect">
            <a:avLst/>
          </a:prstGeom>
          <a:solidFill>
            <a:srgbClr val="EF6F6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3308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1513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Off-target 선택성 도킹 (동일 프로토콜 · 병렬)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22960" y="4617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단일사슬 수용체로 펩타이드 이식(transplant) → 서열정렬(BLOSUM62) → pre-relax(FastRelax) → FlexPepDock. on-target SSTR2 도 동일 프로토콜로 측정해야 margin 편향이 없다.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22960" y="5440680"/>
            <a:ext cx="1280160" cy="310896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54406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SSTR1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2240280" y="5440680"/>
            <a:ext cx="1280160" cy="310896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22" name="Text 17"/>
          <p:cNvSpPr/>
          <p:nvPr/>
        </p:nvSpPr>
        <p:spPr>
          <a:xfrm>
            <a:off x="2240280" y="54406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SSTR3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3657600" y="5440680"/>
            <a:ext cx="1280160" cy="310896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24" name="Text 19"/>
          <p:cNvSpPr/>
          <p:nvPr/>
        </p:nvSpPr>
        <p:spPr>
          <a:xfrm>
            <a:off x="3657600" y="54406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SSTR4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074920" y="5440680"/>
            <a:ext cx="1280160" cy="310896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26" name="Text 21"/>
          <p:cNvSpPr/>
          <p:nvPr/>
        </p:nvSpPr>
        <p:spPr>
          <a:xfrm>
            <a:off x="5074920" y="54406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SSTR5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766560" y="5413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selectivity_margin = min(off-target ΔG) − SSTR2 ΔG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SCORING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다목적 스코어링 &amp; home-advantage 보정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82296" cy="1691640"/>
          </a:xfrm>
          <a:prstGeom prst="rect">
            <a:avLst/>
          </a:prstGeom>
          <a:solidFill>
            <a:srgbClr val="0D3B6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5910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ΔG (결합)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" y="2148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PyRosetta 실측 · 강할수록 ↓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4173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417320"/>
            <a:ext cx="82296" cy="16916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6002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87368" y="15910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혈중 반감기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57016" y="2148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log-multiplicative + RF 앙상블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4173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417320"/>
            <a:ext cx="82296" cy="1691640"/>
          </a:xfrm>
          <a:prstGeom prst="rect">
            <a:avLst/>
          </a:prstGeom>
          <a:solidFill>
            <a:srgbClr val="EF6F6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6002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76288" y="15910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선택성 Δmargin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45936" y="2148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off-target 회피 · native 대비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15400" y="14173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15400" y="1417320"/>
            <a:ext cx="82296" cy="16916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568" y="16002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65208" y="15910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ADMET / 독성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34856" y="2148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+ pepADMET hc50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3246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NSGA-II Pareto + scalar 통합 랭킹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3794760"/>
            <a:ext cx="5394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48640" y="3794760"/>
            <a:ext cx="82296" cy="233172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27" name="Text 21"/>
          <p:cNvSpPr/>
          <p:nvPr/>
        </p:nvSpPr>
        <p:spPr>
          <a:xfrm>
            <a:off x="777240" y="39502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Δmargin — home-advantage 보정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822960" y="443484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SSTR2 는 source 복합체 유래 → native 자체가 margin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+13.37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(baseline).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Δmargin = margin − 13.37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 이어야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SST-14 를 진짜로 능가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한 선택성.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6217920" y="3794760"/>
            <a:ext cx="5394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217920" y="3794760"/>
            <a:ext cx="82296" cy="2331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25"/>
          <p:cNvSpPr/>
          <p:nvPr/>
        </p:nvSpPr>
        <p:spPr>
          <a:xfrm>
            <a:off x="6446520" y="39502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독성 — hc50 native 대비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6492240" y="443484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pepADMET binary(is_toxic)는 비변별적 — 옥시토신·native 까지 toxic 판정.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연속값 hc50 을 native(−55.68) 대비로 게이트.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±5 = 동급(무페널티), 초과 독성만 선형 감점.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IN-LOOP SELECTIVITY · 조건부 게이트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In-loop 선택성 — 비용 제어 게이트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선택성 도킹(후보×5수용체)은 비싸다. 매 iteration 전체 후보가 아니라, 기존 리더보드 최약체보다 ddG가 강한 유망 후보만(iter당 ≤2) 도킹한다. 선택성은 도킹 전엔 모르므로 ddG 를 유망도 프록시로 쓴다.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103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514600"/>
            <a:ext cx="82296" cy="210312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97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변이 후보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iteration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15184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514600"/>
            <a:ext cx="2103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34640" y="2514600"/>
            <a:ext cx="82296" cy="2103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2697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scaffold·clash 통과?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17520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이황화·FWKT 보존 + clash≤10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01184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20640" y="2514600"/>
            <a:ext cx="2103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0" y="2514600"/>
            <a:ext cx="82296" cy="210312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697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ddG가 리더보드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최약체보다 강한가?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03520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warm-start: 역대 도킹분 dedup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87184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06640" y="2514600"/>
            <a:ext cx="2103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06640" y="2514600"/>
            <a:ext cx="82296" cy="2103120"/>
          </a:xfrm>
          <a:prstGeom prst="rect">
            <a:avLst/>
          </a:prstGeom>
          <a:solidFill>
            <a:srgbClr val="EF6F6C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2697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off-target 5종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병렬 도킹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589520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margin → Δmargin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473184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692640" y="2514600"/>
            <a:ext cx="2103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92640" y="2514600"/>
            <a:ext cx="82296" cy="2103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9875520" y="2697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글로벌 리더보드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갱신·영속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875520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epoch warm-start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937760"/>
            <a:ext cx="82296" cy="11430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138928"/>
            <a:ext cx="502920" cy="5029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63040" y="50749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효과: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8후보×5수용체 순차(~수 시간) → 유망 ≤2후보×5수용체 병렬(~6–12분/iter). 게이트 + 수용체 병렬화로 in-loop 선택성을 실용화.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· run 간 기억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영속성 3종 — 무한 발굴의 기억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82296" cy="4617720"/>
          </a:xfrm>
          <a:prstGeom prst="rect">
            <a:avLst/>
          </a:prstGeom>
          <a:solidFill>
            <a:srgbClr val="0D3B6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experiment_log.jsonl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run의 모든 후보 누적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서열 cross-run dedup (재생성 회피)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bandit 위치 warm-start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백본 — 결합 탐색 기억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79392" y="1463040"/>
            <a:ext cx="35204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9392" y="1463040"/>
            <a:ext cx="82296" cy="4617720"/>
          </a:xfrm>
          <a:prstGeom prst="rect">
            <a:avLst/>
          </a:prstGeom>
          <a:solidFill>
            <a:srgbClr val="EF6F6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16916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07992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global_selectivity_</a:t>
            </a:r>
            <a:endParaRPr lang="en-US" sz="1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leaderboard.json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507992" y="3063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Δmargin 역대 best (신규)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53712" y="35661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선택성 측정 서열 dedup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in-loop 게이트 warm-start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post-loop margin→Δ backfill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count_passing(엄격 기준)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10144" y="1463040"/>
            <a:ext cx="35204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10144" y="1463040"/>
            <a:ext cx="82296" cy="461772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744" y="169164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8744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baseline_cache.json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238744" y="3063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baseline 1회 측정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284464" y="35661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epoch만 native SST-14 도킹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epoch 재사용(재도킹 생략)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template+서열 일치 시만 (안전)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ENGINE · 무한 운영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무한 발굴 오케스트레이터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8580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82296" cy="461772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6420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8249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epoch 루프 (STOP 파일까지)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6309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파일 재로드 → knobs 반영 (라이브 조절)</a:t>
            </a:r>
            <a:endParaRPr lang="en-US" sz="1400" dirty="0"/>
          </a:p>
          <a:p>
            <a:pPr marL="342900" indent="-342900">
              <a:lnSpc>
                <a:spcPct val="145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리더보드 warm-start (dedup + 게이트 기준선)</a:t>
            </a:r>
            <a:endParaRPr lang="en-US" sz="1400" dirty="0"/>
          </a:p>
          <a:p>
            <a:pPr marL="342900" indent="-342900">
              <a:lnSpc>
                <a:spcPct val="145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seed_base = base + epoch×1000 (탐색 영역 이동)</a:t>
            </a:r>
            <a:endParaRPr lang="en-US" sz="1400" dirty="0"/>
          </a:p>
          <a:p>
            <a:pPr marL="342900" indent="-342900">
              <a:lnSpc>
                <a:spcPct val="145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다양성 정책: best Δ 정체(patience) → 변이수↑ (탈출)</a:t>
            </a:r>
            <a:endParaRPr lang="en-US" sz="1400" dirty="0"/>
          </a:p>
          <a:p>
            <a:pPr marL="342900" indent="-342900">
              <a:lnSpc>
                <a:spcPct val="145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run_pyrosetta_flow 1회 (in-loop 선택성 ON)</a:t>
            </a:r>
            <a:endParaRPr lang="en-US" sz="1400" dirty="0"/>
          </a:p>
          <a:p>
            <a:pPr marL="342900" indent="-342900">
              <a:lnSpc>
                <a:spcPct val="145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→ 글로벌 리더보드 누적·영속</a:t>
            </a:r>
            <a:endParaRPr lang="en-US" sz="1400" dirty="0"/>
          </a:p>
          <a:p>
            <a:pPr marL="342900" indent="-342900">
              <a:lnSpc>
                <a:spcPct val="145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파일 갱신 → 다음 epoch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589520" y="1463040"/>
            <a:ext cx="40233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89520" y="1463040"/>
            <a:ext cx="82296" cy="1024128"/>
          </a:xfrm>
          <a:prstGeom prst="rect">
            <a:avLst/>
          </a:prstGeom>
          <a:solidFill>
            <a:srgbClr val="EF6F6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71907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6676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정지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366760" y="192024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_workspace/STOP_DISCOVERY — 현재 epoch 마치고 graceful 종료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7589520" y="2642616"/>
            <a:ext cx="40233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0" y="2642616"/>
            <a:ext cx="82296" cy="1024128"/>
          </a:xfrm>
          <a:prstGeom prst="rect">
            <a:avLst/>
          </a:prstGeom>
          <a:solidFill>
            <a:srgbClr val="F4A25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89864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752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조절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66760" y="309981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discovery_control.json 편집 — 다음 epoch 부터 반영(재시작 불필요)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7589520" y="3822192"/>
            <a:ext cx="40233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89520" y="3822192"/>
            <a:ext cx="82296" cy="1024128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078224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6676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다양성 탈출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366760" y="427939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Δ 정체 시 max_random_mutations↑ → local optimum 탈출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7589520" y="5001768"/>
            <a:ext cx="40233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589520" y="5001768"/>
            <a:ext cx="82296" cy="1024128"/>
          </a:xfrm>
          <a:prstGeom prst="rect">
            <a:avLst/>
          </a:prstGeom>
          <a:solidFill>
            <a:srgbClr val="0D3B6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525780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366760" y="51114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모니터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366760" y="545896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discovery_status.json — 역대 best Δ·통과 수·다양성 레벨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USAGE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현황 · 가동 방법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383280" cy="1691640"/>
          </a:xfrm>
          <a:prstGeom prst="rect">
            <a:avLst/>
          </a:prstGeom>
          <a:solidFill>
            <a:srgbClr val="1129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1907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+0.077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41248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역대 best Δmargin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(LGCKFFFWKTFMSC)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383280" cy="1691640"/>
          </a:xfrm>
          <a:prstGeom prst="rect">
            <a:avLst/>
          </a:prstGeom>
          <a:solidFill>
            <a:srgbClr val="1129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71907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0건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498848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엄격 기준 동시충족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(Δ&gt;0 &amp; ΔG≤−15 &amp; 비독성)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1554480"/>
            <a:ext cx="3383280" cy="1691640"/>
          </a:xfrm>
          <a:prstGeom prst="rect">
            <a:avLst/>
          </a:prstGeom>
          <a:solidFill>
            <a:srgbClr val="1129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71907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156448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(STOP 까지)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하룻밤 ~10–15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백그라운드 가동 (tmux 권장)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10908792" cy="1783080"/>
          </a:xfrm>
          <a:prstGeom prst="rect">
            <a:avLst/>
          </a:prstGeom>
          <a:solidFill>
            <a:srgbClr val="07152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1605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tmux new -s discovery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~/miniforge3/envs/bio-tools/bin/python scripts/run_continuous_discovery.py \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--input data/somatostatin_receptor/SSTR2_SST14_complex_boltz_1.pdb \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6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--n-candidates 8 --max-iterations 4 --top-k 5 --selectivity-max-per-iter 2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4A2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정지: touch _workspace/STOP_DISCOVERY   |   모니터: discovery_status.json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전제: vLLM(Qwen3-32B) @ localhost:8000 가동 중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SSTR2 무한 발굴 Agentic AI 아키텍처</dc:title>
  <dc:subject>PptxGenJS Presentation</dc:subject>
  <dc:creator>SSTR2 Discovery</dc:creator>
  <cp:lastModifiedBy>SSTR2 Discovery</cp:lastModifiedBy>
  <cp:revision>1</cp:revision>
  <dcterms:created xsi:type="dcterms:W3CDTF">2026-06-10T11:20:39Z</dcterms:created>
  <dcterms:modified xsi:type="dcterms:W3CDTF">2026-06-10T11:20:39Z</dcterms:modified>
</cp:coreProperties>
</file>